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9" r:id="rId3"/>
    <p:sldId id="276" r:id="rId4"/>
    <p:sldId id="270" r:id="rId5"/>
    <p:sldId id="275" r:id="rId6"/>
    <p:sldId id="274" r:id="rId7"/>
    <p:sldId id="271" r:id="rId8"/>
    <p:sldId id="273" r:id="rId9"/>
    <p:sldId id="272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81"/>
    <p:restoredTop sz="94726"/>
  </p:normalViewPr>
  <p:slideViewPr>
    <p:cSldViewPr snapToGrid="0" snapToObjects="1">
      <p:cViewPr varScale="1">
        <p:scale>
          <a:sx n="120" d="100"/>
          <a:sy n="120" d="100"/>
        </p:scale>
        <p:origin x="116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26FAD7-0FFE-A0DB-1792-2C96B64750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52D54F-9490-1A84-C2A4-FD55B48ADF6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DD07A8-6C7E-134E-9671-016C37CCC90D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1CEBF-2EBC-D1AD-5FBA-BEAC9C6B76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20C35-C8C2-D384-1D49-1853C31DC6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65BFB2-F769-7C46-AA5F-0B34814D6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08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01501-6DEC-4741-A5D4-E4281CE521A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5FBD2-BC00-CB4B-9DDA-DA3A53AF2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8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5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ECBE2-0AA1-E125-11A7-E68E442F0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CD5337-79FE-F816-963E-B079B6494C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CC227A-07C1-6847-933E-B68670394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A9D85-0DB8-68F4-18CE-17F087E08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86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CDBBA-2882-556E-CBA9-1C93437C2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84029C-7179-5A93-3E19-561BEC2FE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A0F08D-DAFC-2D55-C9E2-E90374825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762BA-5DC0-5986-1B86-5B3119882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40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69DD-5FD1-5096-3C99-794C0B34B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2A77DD-4963-17F1-BCF1-F23B686E7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654AD9-C6F3-4EAA-D3C9-7DCEDFCDD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D06EC-F315-2088-1D4E-343FC007F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434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7ADE2-2A1C-AD5D-8818-1502FC680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BEC584-9399-70BC-F6E4-3ACE23D90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218B42-BEB2-009A-BC1F-F27193E7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4B53-32C5-5696-25F7-BB0F10081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06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B407D-674A-700F-BC4C-3F7C63E3E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8CF33-CD90-5D58-8932-1901CE368D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57E3D-9173-E49C-E3EC-4FF6E7FCE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18A93-F0B8-FBDA-C887-C5B0488FE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275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D11A2-C106-D904-8A97-9CA0166A9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A5E2D-7F7F-68A8-17A0-E1A7CEF66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9BCCB9-9F9E-68B1-4DFE-3D74FC1B2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5D567-6E11-2FBA-FC42-7B22B47BB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911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41813-F9C2-AAD8-7EA5-CBDAC4720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49FA5D-C4E1-B04F-D278-1CBC24320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89F526-8235-54B5-2865-D4A36D3FA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52866-FD47-5557-848B-79B63F7E1D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864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37D482-56E6-F41D-6FE0-EA18514913FE}"/>
              </a:ext>
            </a:extLst>
          </p:cNvPr>
          <p:cNvSpPr/>
          <p:nvPr userDrawn="1"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EED46F-7B5A-1058-8CB4-AC25AB601D51}"/>
              </a:ext>
            </a:extLst>
          </p:cNvPr>
          <p:cNvSpPr txBox="1"/>
          <p:nvPr userDrawn="1"/>
        </p:nvSpPr>
        <p:spPr>
          <a:xfrm>
            <a:off x="182880" y="6510528"/>
            <a:ext cx="11795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FFFFFF"/>
                </a:solidFill>
              </a:rPr>
              <a:t>CodeBMB</a:t>
            </a:r>
            <a:r>
              <a:rPr sz="1600" b="0" dirty="0">
                <a:solidFill>
                  <a:srgbClr val="FFFFFF"/>
                </a:solidFill>
              </a:rPr>
              <a:t> Workshop  |  </a:t>
            </a:r>
            <a:r>
              <a:rPr sz="1600" b="0" dirty="0" err="1">
                <a:solidFill>
                  <a:srgbClr val="FFFFFF"/>
                </a:solidFill>
              </a:rPr>
              <a:t>coding</a:t>
            </a:r>
            <a:r>
              <a:rPr lang="en-US" sz="1600" b="0" dirty="0" err="1">
                <a:solidFill>
                  <a:srgbClr val="FFFFFF"/>
                </a:solidFill>
              </a:rPr>
              <a:t>for</a:t>
            </a:r>
            <a:r>
              <a:rPr sz="1600" b="0" dirty="0" err="1">
                <a:solidFill>
                  <a:srgbClr val="FFFFFF"/>
                </a:solidFill>
              </a:rPr>
              <a:t>BMB@gmail.com</a:t>
            </a:r>
            <a:r>
              <a:rPr lang="en-US" sz="1600" b="0" dirty="0">
                <a:solidFill>
                  <a:srgbClr val="FFFFFF"/>
                </a:solidFill>
              </a:rPr>
              <a:t>  |  </a:t>
            </a:r>
            <a:r>
              <a:rPr lang="en-US" sz="1600" b="0" dirty="0" err="1">
                <a:solidFill>
                  <a:srgbClr val="FFFFFF"/>
                </a:solidFill>
              </a:rPr>
              <a:t>github.com</a:t>
            </a:r>
            <a:r>
              <a:rPr lang="en-US" sz="1600" b="0" dirty="0">
                <a:solidFill>
                  <a:srgbClr val="FFFFFF"/>
                </a:solidFill>
              </a:rPr>
              <a:t>/</a:t>
            </a:r>
            <a:r>
              <a:rPr lang="en-US" sz="1600" b="0" dirty="0" err="1">
                <a:solidFill>
                  <a:srgbClr val="FFFFFF"/>
                </a:solidFill>
              </a:rPr>
              <a:t>codeBMB</a:t>
            </a:r>
            <a:endParaRPr sz="1600" b="0" dirty="0">
              <a:solidFill>
                <a:srgbClr val="FFFFFF"/>
              </a:solidFill>
            </a:endParaRPr>
          </a:p>
        </p:txBody>
      </p:sp>
      <p:pic>
        <p:nvPicPr>
          <p:cNvPr id="7" name="Picture 6" descr="A green and yellow snake logo&#10;&#10;AI-generated content may be incorrect.">
            <a:extLst>
              <a:ext uri="{FF2B5EF4-FFF2-40B4-BE49-F238E27FC236}">
                <a16:creationId xmlns:a16="http://schemas.microsoft.com/office/drawing/2014/main" id="{61AE1850-7497-929C-FEA4-95B84A59E37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300662" y="6172200"/>
            <a:ext cx="6830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wabash.edu/pybmb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codingforbmb@gmail.com" TargetMode="External"/><Relationship Id="rId5" Type="http://schemas.openxmlformats.org/officeDocument/2006/relationships/hyperlink" Target="https://pybmb.slack.com/" TargetMode="External"/><Relationship Id="rId4" Type="http://schemas.openxmlformats.org/officeDocument/2006/relationships/hyperlink" Target="https://github.com/codeBMB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8.jpg"/><Relationship Id="rId9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8F1F18-4693-CD64-646B-B22923E3738B}"/>
              </a:ext>
            </a:extLst>
          </p:cNvPr>
          <p:cNvSpPr/>
          <p:nvPr/>
        </p:nvSpPr>
        <p:spPr>
          <a:xfrm>
            <a:off x="0" y="1995914"/>
            <a:ext cx="12188825" cy="22914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 err="1">
                <a:solidFill>
                  <a:srgbClr val="FFFFFF"/>
                </a:solidFill>
              </a:rPr>
              <a:t>CodeBMB</a:t>
            </a:r>
            <a:endParaRPr sz="5400" b="1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264472"/>
            <a:ext cx="86657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dirty="0">
                <a:solidFill>
                  <a:srgbClr val="002060"/>
                </a:solidFill>
              </a:rPr>
              <a:t>Computational Literacy
in Biochemistry and Molecular Biology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11247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rgbClr val="BDD7EE"/>
                </a:solidFill>
              </a:rPr>
              <a:t>Paul Craig</a:t>
            </a:r>
          </a:p>
          <a:p>
            <a:pPr algn="ctr"/>
            <a:r>
              <a:rPr sz="1800" b="0" dirty="0" err="1">
                <a:solidFill>
                  <a:srgbClr val="BDD7EE"/>
                </a:solidFill>
              </a:rPr>
              <a:t>CodeBMB</a:t>
            </a:r>
            <a:r>
              <a:rPr sz="1800" b="0" dirty="0">
                <a:solidFill>
                  <a:srgbClr val="BDD7EE"/>
                </a:solidFill>
              </a:rPr>
              <a:t> Workshop</a:t>
            </a:r>
          </a:p>
        </p:txBody>
      </p:sp>
      <p:pic>
        <p:nvPicPr>
          <p:cNvPr id="9" name="Picture 8" descr="A logo with text and a snake&#10;&#10;AI-generated content may be incorrect.">
            <a:extLst>
              <a:ext uri="{FF2B5EF4-FFF2-40B4-BE49-F238E27FC236}">
                <a16:creationId xmlns:a16="http://schemas.microsoft.com/office/drawing/2014/main" id="{158658AA-4664-92F0-CEAD-6DF0AF619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51831" y="1995914"/>
            <a:ext cx="2453372" cy="22914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71A4FC3-4C83-B2E3-330E-406961F32A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64765" y="2021216"/>
            <a:ext cx="1828800" cy="22479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F63FD0A-5819-71E3-93B6-4A4CEC07E152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4B44D2-159C-86E4-7084-51242717F98F}"/>
              </a:ext>
            </a:extLst>
          </p:cNvPr>
          <p:cNvSpPr txBox="1"/>
          <p:nvPr/>
        </p:nvSpPr>
        <p:spPr>
          <a:xfrm>
            <a:off x="274320" y="91440"/>
            <a:ext cx="116128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The Team</a:t>
            </a:r>
            <a:br>
              <a:rPr lang="en-US" sz="3000" b="1" dirty="0">
                <a:solidFill>
                  <a:schemeClr val="bg1"/>
                </a:solidFill>
              </a:rPr>
            </a:br>
            <a:endParaRPr sz="3000" b="1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482B32E-B0A2-9535-DBF3-C81FAA6D25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56796" y="2021216"/>
            <a:ext cx="1828800" cy="2247900"/>
          </a:xfrm>
          <a:prstGeom prst="rect">
            <a:avLst/>
          </a:prstGeom>
        </p:spPr>
      </p:pic>
      <p:pic>
        <p:nvPicPr>
          <p:cNvPr id="1028" name="Picture 4" descr="Photo of Novak, Walter">
            <a:extLst>
              <a:ext uri="{FF2B5EF4-FFF2-40B4-BE49-F238E27FC236}">
                <a16:creationId xmlns:a16="http://schemas.microsoft.com/office/drawing/2014/main" id="{D39779FC-6C2B-76DD-927D-3C7F4296A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48828" y="2021216"/>
            <a:ext cx="168787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21E2A5-49F5-FF07-30FC-165077FF8E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4334" y="2021216"/>
            <a:ext cx="1837200" cy="22479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4A4FB64-35A3-B3ED-8F6A-D91CC4EED85C}"/>
              </a:ext>
            </a:extLst>
          </p:cNvPr>
          <p:cNvSpPr txBox="1"/>
          <p:nvPr/>
        </p:nvSpPr>
        <p:spPr>
          <a:xfrm>
            <a:off x="473024" y="4647971"/>
            <a:ext cx="2619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Chris Berndsen</a:t>
            </a:r>
          </a:p>
          <a:p>
            <a:pPr algn="ctr"/>
            <a:r>
              <a:rPr lang="en-US" dirty="0"/>
              <a:t>James Madison University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8F8C-F145-7ADA-2F3F-38498692900F}"/>
              </a:ext>
            </a:extLst>
          </p:cNvPr>
          <p:cNvSpPr txBox="1"/>
          <p:nvPr/>
        </p:nvSpPr>
        <p:spPr>
          <a:xfrm>
            <a:off x="4025199" y="4645884"/>
            <a:ext cx="11079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Paul Craig</a:t>
            </a:r>
          </a:p>
          <a:p>
            <a:pPr algn="ctr"/>
            <a:r>
              <a:rPr lang="en-US" dirty="0"/>
              <a:t>RIT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1B55E9-B2D5-9BC6-5C81-AB4B19597A1C}"/>
              </a:ext>
            </a:extLst>
          </p:cNvPr>
          <p:cNvSpPr txBox="1"/>
          <p:nvPr/>
        </p:nvSpPr>
        <p:spPr>
          <a:xfrm>
            <a:off x="6730443" y="4645884"/>
            <a:ext cx="1281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Mike Foster</a:t>
            </a:r>
          </a:p>
          <a:p>
            <a:pPr algn="ctr"/>
            <a:r>
              <a:rPr lang="en-US" dirty="0"/>
              <a:t>Penn State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C9FE50-1076-B00D-9235-219A440159A0}"/>
              </a:ext>
            </a:extLst>
          </p:cNvPr>
          <p:cNvSpPr txBox="1"/>
          <p:nvPr/>
        </p:nvSpPr>
        <p:spPr>
          <a:xfrm>
            <a:off x="9253591" y="4645883"/>
            <a:ext cx="16783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Wally Novak</a:t>
            </a:r>
          </a:p>
          <a:p>
            <a:pPr algn="ctr"/>
            <a:r>
              <a:rPr lang="en-US" dirty="0"/>
              <a:t>Wabash College</a:t>
            </a:r>
          </a:p>
        </p:txBody>
      </p:sp>
    </p:spTree>
    <p:extLst>
      <p:ext uri="{BB962C8B-B14F-4D97-AF65-F5344CB8AC3E}">
        <p14:creationId xmlns:p14="http://schemas.microsoft.com/office/powerpoint/2010/main" val="3733752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510C7-C858-E59A-D30E-E17DB88B2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740697-7166-35B2-8292-3DBB99FD4A60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380C73-65B3-67F2-F05C-CE3B9CE9C479}"/>
              </a:ext>
            </a:extLst>
          </p:cNvPr>
          <p:cNvSpPr txBox="1"/>
          <p:nvPr/>
        </p:nvSpPr>
        <p:spPr>
          <a:xfrm>
            <a:off x="274320" y="91440"/>
            <a:ext cx="116128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Who We Are</a:t>
            </a:r>
            <a:br>
              <a:rPr lang="en-US" sz="3000" b="1" dirty="0">
                <a:solidFill>
                  <a:schemeClr val="bg1"/>
                </a:solidFill>
              </a:rPr>
            </a:br>
            <a:endParaRPr sz="30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50CAF5-D077-948B-A465-785E9336F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257005" cy="4525963"/>
          </a:xfrm>
        </p:spPr>
        <p:txBody>
          <a:bodyPr/>
          <a:lstStyle/>
          <a:p>
            <a:r>
              <a:rPr lang="en-US" dirty="0"/>
              <a:t>We are experts at Biochemistry and Molecular Biology.</a:t>
            </a:r>
          </a:p>
          <a:p>
            <a:r>
              <a:rPr lang="en-US" dirty="0"/>
              <a:t>We are effective instructors in our classrooms.</a:t>
            </a:r>
          </a:p>
          <a:p>
            <a:r>
              <a:rPr lang="en-US" dirty="0"/>
              <a:t>We work well with our research students.</a:t>
            </a:r>
          </a:p>
          <a:p>
            <a:r>
              <a:rPr lang="en-US" dirty="0"/>
              <a:t>We care about the success of our students and our peers.</a:t>
            </a:r>
          </a:p>
          <a:p>
            <a:r>
              <a:rPr lang="en-US" dirty="0"/>
              <a:t>We are not experts at coding.</a:t>
            </a:r>
          </a:p>
          <a:p>
            <a:r>
              <a:rPr lang="en-US" dirty="0"/>
              <a:t>We are not experts at teaching our students to code.</a:t>
            </a:r>
          </a:p>
          <a:p>
            <a:r>
              <a:rPr lang="en-US" dirty="0"/>
              <a:t>Learning can be a humbling process.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14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7B92A-B1C5-61BB-028E-5E9947807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CCD419-AE9E-78EB-7D29-EC029B2D71E4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59603A-1528-21F6-29FD-032F26CE084F}"/>
              </a:ext>
            </a:extLst>
          </p:cNvPr>
          <p:cNvSpPr txBox="1"/>
          <p:nvPr/>
        </p:nvSpPr>
        <p:spPr>
          <a:xfrm>
            <a:off x="274320" y="91440"/>
            <a:ext cx="116128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The Agenda for Tuesday, May 19, 2026</a:t>
            </a:r>
            <a:br>
              <a:rPr lang="en-US" sz="3000" b="1" dirty="0">
                <a:solidFill>
                  <a:schemeClr val="bg1"/>
                </a:solidFill>
              </a:rPr>
            </a:br>
            <a:endParaRPr sz="3000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8ADD6E3-89A5-0297-99B3-5230D70F6B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4422164"/>
              </p:ext>
            </p:extLst>
          </p:nvPr>
        </p:nvGraphicFramePr>
        <p:xfrm>
          <a:off x="1265934" y="1653478"/>
          <a:ext cx="9656956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282">
                  <a:extLst>
                    <a:ext uri="{9D8B030D-6E8A-4147-A177-3AD203B41FA5}">
                      <a16:colId xmlns:a16="http://schemas.microsoft.com/office/drawing/2014/main" val="2073154845"/>
                    </a:ext>
                  </a:extLst>
                </a:gridCol>
                <a:gridCol w="4056445">
                  <a:extLst>
                    <a:ext uri="{9D8B030D-6E8A-4147-A177-3AD203B41FA5}">
                      <a16:colId xmlns:a16="http://schemas.microsoft.com/office/drawing/2014/main" val="2385333213"/>
                    </a:ext>
                  </a:extLst>
                </a:gridCol>
                <a:gridCol w="2250990">
                  <a:extLst>
                    <a:ext uri="{9D8B030D-6E8A-4147-A177-3AD203B41FA5}">
                      <a16:colId xmlns:a16="http://schemas.microsoft.com/office/drawing/2014/main" val="1476876358"/>
                    </a:ext>
                  </a:extLst>
                </a:gridCol>
                <a:gridCol w="2414239">
                  <a:extLst>
                    <a:ext uri="{9D8B030D-6E8A-4147-A177-3AD203B41FA5}">
                      <a16:colId xmlns:a16="http://schemas.microsoft.com/office/drawing/2014/main" val="4196600483"/>
                    </a:ext>
                  </a:extLst>
                </a:gridCol>
              </a:tblGrid>
              <a:tr h="264903">
                <a:tc>
                  <a:txBody>
                    <a:bodyPr/>
                    <a:lstStyle/>
                    <a:p>
                      <a:r>
                        <a:rPr lang="en-US" sz="20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Presenter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849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1:00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Paul Craig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356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1:10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Pedagogical Basis of 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Mike Foster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602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1:25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GitHub Basics– Forking Repositories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Wally Novak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Forked Repository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632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1:50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Intro to </a:t>
                      </a:r>
                      <a:r>
                        <a:rPr lang="en-US" sz="2000" dirty="0" err="1"/>
                        <a:t>Colab</a:t>
                      </a:r>
                      <a:r>
                        <a:rPr lang="en-US" sz="2000" dirty="0"/>
                        <a:t> and Google Drive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Chris Berndsen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Colab</a:t>
                      </a:r>
                      <a:r>
                        <a:rPr lang="en-US" sz="2000" dirty="0"/>
                        <a:t> Notebook 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514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2:10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Break and Q&amp;A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717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2:25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Basics of Python 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Paul Craig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Colab</a:t>
                      </a:r>
                      <a:r>
                        <a:rPr lang="en-US" sz="2000" dirty="0"/>
                        <a:t> Notebook 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969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3:00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552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3:15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Pandas and Plotting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Chris Berndsen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Colab</a:t>
                      </a:r>
                      <a:r>
                        <a:rPr lang="en-US" sz="2000" dirty="0"/>
                        <a:t> Notebook 003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34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3:50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Wrap-Up and Overnight 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143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9881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F7A43-BB8F-E81B-F054-FBF8BCC74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076748-0497-93BC-6685-26868771391B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158F83-84B0-31EF-0F84-2AD706FB2FEE}"/>
              </a:ext>
            </a:extLst>
          </p:cNvPr>
          <p:cNvSpPr txBox="1"/>
          <p:nvPr/>
        </p:nvSpPr>
        <p:spPr>
          <a:xfrm>
            <a:off x="274320" y="91440"/>
            <a:ext cx="116128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The Agenda for Thursday, May 21, 2026</a:t>
            </a:r>
            <a:br>
              <a:rPr lang="en-US" sz="3000" b="1" dirty="0">
                <a:solidFill>
                  <a:schemeClr val="bg1"/>
                </a:solidFill>
              </a:rPr>
            </a:br>
            <a:endParaRPr sz="3000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0C0C54CE-2FEB-EE3E-1A97-4464B5B81C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3441334"/>
              </p:ext>
            </p:extLst>
          </p:nvPr>
        </p:nvGraphicFramePr>
        <p:xfrm>
          <a:off x="984652" y="1365812"/>
          <a:ext cx="10192215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122">
                  <a:extLst>
                    <a:ext uri="{9D8B030D-6E8A-4147-A177-3AD203B41FA5}">
                      <a16:colId xmlns:a16="http://schemas.microsoft.com/office/drawing/2014/main" val="2073154845"/>
                    </a:ext>
                  </a:extLst>
                </a:gridCol>
                <a:gridCol w="4281283">
                  <a:extLst>
                    <a:ext uri="{9D8B030D-6E8A-4147-A177-3AD203B41FA5}">
                      <a16:colId xmlns:a16="http://schemas.microsoft.com/office/drawing/2014/main" val="2385333213"/>
                    </a:ext>
                  </a:extLst>
                </a:gridCol>
                <a:gridCol w="2375756">
                  <a:extLst>
                    <a:ext uri="{9D8B030D-6E8A-4147-A177-3AD203B41FA5}">
                      <a16:colId xmlns:a16="http://schemas.microsoft.com/office/drawing/2014/main" val="1476876358"/>
                    </a:ext>
                  </a:extLst>
                </a:gridCol>
                <a:gridCol w="2548054">
                  <a:extLst>
                    <a:ext uri="{9D8B030D-6E8A-4147-A177-3AD203B41FA5}">
                      <a16:colId xmlns:a16="http://schemas.microsoft.com/office/drawing/2014/main" val="4196600483"/>
                    </a:ext>
                  </a:extLst>
                </a:gridCol>
              </a:tblGrid>
              <a:tr h="264903">
                <a:tc>
                  <a:txBody>
                    <a:bodyPr/>
                    <a:lstStyle/>
                    <a:p>
                      <a:r>
                        <a:rPr lang="en-US" sz="18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Presenter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849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Recap and Common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Paul Craig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356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1:10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Project Possibilities Showcase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Paul Craig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602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1:20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Wally Novak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Colab</a:t>
                      </a:r>
                      <a:r>
                        <a:rPr lang="en-US" sz="1800" dirty="0"/>
                        <a:t> Notebook 004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632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514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2:05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AI Session: Using Gemini to Modify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Chris Berndsen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717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2:50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Select a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969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Colab</a:t>
                      </a:r>
                      <a:r>
                        <a:rPr lang="en-US" sz="1800" dirty="0"/>
                        <a:t> &amp; Python Basics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Mike Foster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289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Protein Assay/Linear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Chris Berndsen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Colab</a:t>
                      </a:r>
                      <a:r>
                        <a:rPr lang="en-US" sz="1800" dirty="0"/>
                        <a:t> Notebook 004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552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Enzyme Kinetics/Nonlinear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Paul Craig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Colab</a:t>
                      </a:r>
                      <a:r>
                        <a:rPr lang="en-US" sz="1800" dirty="0"/>
                        <a:t> Notebook 005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34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Biopython</a:t>
                      </a:r>
                      <a:r>
                        <a:rPr lang="en-US" sz="1800" dirty="0"/>
                        <a:t> Sequence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Wally Novak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Colab</a:t>
                      </a:r>
                      <a:r>
                        <a:rPr lang="en-US" sz="1800" dirty="0"/>
                        <a:t> Notebook 006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143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3:25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Project Sharing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Mike Foster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020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3:50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Resources, Next Steps, Closing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Paul Craig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398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5787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18A05-E964-2EFE-5D0A-C47F015C8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A3D0D5-1B4F-A2FA-8666-A88D4A99D34D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46CA16-49A5-4AAC-1D11-C9AF6BB89764}"/>
              </a:ext>
            </a:extLst>
          </p:cNvPr>
          <p:cNvSpPr txBox="1"/>
          <p:nvPr/>
        </p:nvSpPr>
        <p:spPr>
          <a:xfrm>
            <a:off x="274320" y="91440"/>
            <a:ext cx="116128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We Value Your Feedback</a:t>
            </a:r>
            <a:br>
              <a:rPr lang="en-US" sz="3000" b="1" dirty="0">
                <a:solidFill>
                  <a:schemeClr val="bg1"/>
                </a:solidFill>
              </a:rPr>
            </a:br>
            <a:endParaRPr sz="3000" b="1" dirty="0">
              <a:solidFill>
                <a:schemeClr val="bg1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8088821-A5D6-6486-81F4-D934888C0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51" y="1444082"/>
            <a:ext cx="8229600" cy="4525963"/>
          </a:xfrm>
        </p:spPr>
        <p:txBody>
          <a:bodyPr/>
          <a:lstStyle/>
          <a:p>
            <a:r>
              <a:rPr lang="en-US" dirty="0"/>
              <a:t>Please take a few minutes to complete our post-workshop survey</a:t>
            </a:r>
          </a:p>
          <a:p>
            <a:endParaRPr lang="en-US" dirty="0"/>
          </a:p>
          <a:p>
            <a:r>
              <a:rPr lang="en-US" dirty="0"/>
              <a:t>Your feedback helps us:</a:t>
            </a:r>
          </a:p>
          <a:p>
            <a:pPr lvl="1"/>
            <a:r>
              <a:rPr lang="en-US" dirty="0"/>
              <a:t>Improve future workshops</a:t>
            </a:r>
          </a:p>
          <a:p>
            <a:pPr lvl="1"/>
            <a:r>
              <a:rPr lang="en-US" dirty="0"/>
              <a:t>Better meet your needs</a:t>
            </a:r>
          </a:p>
          <a:p>
            <a:pPr lvl="1"/>
            <a:r>
              <a:rPr lang="en-US" dirty="0"/>
              <a:t>Deliver more impactful content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8ADAD3-3088-D630-EC49-ECD32993616F}"/>
              </a:ext>
            </a:extLst>
          </p:cNvPr>
          <p:cNvSpPr txBox="1"/>
          <p:nvPr/>
        </p:nvSpPr>
        <p:spPr>
          <a:xfrm>
            <a:off x="7517021" y="2951946"/>
            <a:ext cx="37345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Apple Chancery" panose="03020702040506060504" pitchFamily="66" charset="-79"/>
                <a:cs typeface="Apple Chancery" panose="03020702040506060504" pitchFamily="66" charset="-79"/>
              </a:rPr>
              <a:t>Thank you for helping </a:t>
            </a:r>
          </a:p>
          <a:p>
            <a:r>
              <a:rPr lang="en-US" sz="2800" dirty="0">
                <a:solidFill>
                  <a:schemeClr val="tx2"/>
                </a:solidFill>
                <a:latin typeface="Apple Chancery" panose="03020702040506060504" pitchFamily="66" charset="-79"/>
                <a:cs typeface="Apple Chancery" panose="03020702040506060504" pitchFamily="66" charset="-79"/>
              </a:rPr>
              <a:t>us make a difference</a:t>
            </a:r>
          </a:p>
        </p:txBody>
      </p:sp>
    </p:spTree>
    <p:extLst>
      <p:ext uri="{BB962C8B-B14F-4D97-AF65-F5344CB8AC3E}">
        <p14:creationId xmlns:p14="http://schemas.microsoft.com/office/powerpoint/2010/main" val="2221394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EF26C-4EFA-E0AB-3DE0-97F3DEB97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D32315-0B01-C477-C42B-B02B60556C8C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56C25-1691-0F1B-BC96-94E487D7E373}"/>
              </a:ext>
            </a:extLst>
          </p:cNvPr>
          <p:cNvSpPr txBox="1"/>
          <p:nvPr/>
        </p:nvSpPr>
        <p:spPr>
          <a:xfrm>
            <a:off x="274320" y="91440"/>
            <a:ext cx="116128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Staying in Touch</a:t>
            </a:r>
            <a:br>
              <a:rPr lang="en-US" sz="3000" b="1" dirty="0">
                <a:solidFill>
                  <a:schemeClr val="bg1"/>
                </a:solidFill>
              </a:rPr>
            </a:br>
            <a:endParaRPr sz="3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B5CB9-2C66-C38C-54C6-53978498C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0727473" cy="4525963"/>
          </a:xfrm>
        </p:spPr>
        <p:txBody>
          <a:bodyPr/>
          <a:lstStyle/>
          <a:p>
            <a:r>
              <a:rPr lang="en-US" dirty="0" err="1"/>
              <a:t>PyBMB</a:t>
            </a:r>
            <a:r>
              <a:rPr lang="en-US" dirty="0"/>
              <a:t> Website: </a:t>
            </a:r>
            <a:r>
              <a:rPr lang="en-US" dirty="0">
                <a:hlinkClick r:id="rId3"/>
              </a:rPr>
              <a:t>https://sites.wabash.edu/pybmb/</a:t>
            </a:r>
            <a:r>
              <a:rPr lang="en-US" dirty="0"/>
              <a:t> </a:t>
            </a:r>
          </a:p>
          <a:p>
            <a:r>
              <a:rPr lang="en-US" dirty="0" err="1"/>
              <a:t>CodeBMB</a:t>
            </a:r>
            <a:r>
              <a:rPr lang="en-US" dirty="0"/>
              <a:t> GitHub: </a:t>
            </a:r>
            <a:r>
              <a:rPr lang="en-US" dirty="0">
                <a:hlinkClick r:id="rId4"/>
              </a:rPr>
              <a:t>https://github.com/codeBMB</a:t>
            </a:r>
            <a:r>
              <a:rPr lang="en-US" dirty="0"/>
              <a:t> </a:t>
            </a:r>
          </a:p>
          <a:p>
            <a:r>
              <a:rPr lang="en-US" dirty="0"/>
              <a:t>Our Slack Channel: </a:t>
            </a:r>
            <a:r>
              <a:rPr lang="en-US" dirty="0">
                <a:hlinkClick r:id="rId5"/>
              </a:rPr>
              <a:t>https://pybmb.slack.com</a:t>
            </a:r>
            <a:r>
              <a:rPr lang="en-US" dirty="0"/>
              <a:t> </a:t>
            </a:r>
          </a:p>
          <a:p>
            <a:r>
              <a:rPr lang="en-US" dirty="0"/>
              <a:t>Email: </a:t>
            </a:r>
            <a:r>
              <a:rPr lang="en-US" dirty="0">
                <a:hlinkClick r:id="rId6"/>
              </a:rPr>
              <a:t>codingforbmb@gmail.com</a:t>
            </a:r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889127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F344D-7B7B-F302-0713-C609E4CD9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DFDC3D-81BC-BBE0-EFCC-D5EE531F8B9E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9BAA37-FA77-42CC-E78D-E89F85162FF6}"/>
              </a:ext>
            </a:extLst>
          </p:cNvPr>
          <p:cNvSpPr txBox="1"/>
          <p:nvPr/>
        </p:nvSpPr>
        <p:spPr>
          <a:xfrm>
            <a:off x="274320" y="91440"/>
            <a:ext cx="116128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Future Workshops</a:t>
            </a:r>
            <a:br>
              <a:rPr lang="en-US" sz="3000" b="1" dirty="0">
                <a:solidFill>
                  <a:schemeClr val="bg1"/>
                </a:solidFill>
              </a:rPr>
            </a:br>
            <a:endParaRPr sz="3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B0555-C0B2-DB4D-15AE-E7C02B99F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0727473" cy="3601995"/>
          </a:xfrm>
        </p:spPr>
        <p:txBody>
          <a:bodyPr>
            <a:normAutofit/>
          </a:bodyPr>
          <a:lstStyle/>
          <a:p>
            <a:r>
              <a:rPr lang="en-US" dirty="0"/>
              <a:t>BCCE July 26-30 (details will be posted on our website)</a:t>
            </a:r>
          </a:p>
          <a:p>
            <a:r>
              <a:rPr lang="en-US" dirty="0"/>
              <a:t>Workshop 2 Learning to Code is planned for Fall 2026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Workshop 3 Teaching with Code is planned for Spring 2027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1AD41D-1437-8862-7393-C63B87728A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546541"/>
              </p:ext>
            </p:extLst>
          </p:nvPr>
        </p:nvGraphicFramePr>
        <p:xfrm>
          <a:off x="990501" y="2940908"/>
          <a:ext cx="10180518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393506">
                  <a:extLst>
                    <a:ext uri="{9D8B030D-6E8A-4147-A177-3AD203B41FA5}">
                      <a16:colId xmlns:a16="http://schemas.microsoft.com/office/drawing/2014/main" val="2817561570"/>
                    </a:ext>
                  </a:extLst>
                </a:gridCol>
                <a:gridCol w="3393506">
                  <a:extLst>
                    <a:ext uri="{9D8B030D-6E8A-4147-A177-3AD203B41FA5}">
                      <a16:colId xmlns:a16="http://schemas.microsoft.com/office/drawing/2014/main" val="334100188"/>
                    </a:ext>
                  </a:extLst>
                </a:gridCol>
                <a:gridCol w="3393506">
                  <a:extLst>
                    <a:ext uri="{9D8B030D-6E8A-4147-A177-3AD203B41FA5}">
                      <a16:colId xmlns:a16="http://schemas.microsoft.com/office/drawing/2014/main" val="1954017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Processing and Writing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More with 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Plotting in 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580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Nonlinear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Sequence and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Working with AlphaFold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37880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A7F1C8A-C95C-358A-E5F9-1A045760E0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229173"/>
              </p:ext>
            </p:extLst>
          </p:nvPr>
        </p:nvGraphicFramePr>
        <p:xfrm>
          <a:off x="990501" y="4831355"/>
          <a:ext cx="10180518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393506">
                  <a:extLst>
                    <a:ext uri="{9D8B030D-6E8A-4147-A177-3AD203B41FA5}">
                      <a16:colId xmlns:a16="http://schemas.microsoft.com/office/drawing/2014/main" val="2817561570"/>
                    </a:ext>
                  </a:extLst>
                </a:gridCol>
                <a:gridCol w="3393506">
                  <a:extLst>
                    <a:ext uri="{9D8B030D-6E8A-4147-A177-3AD203B41FA5}">
                      <a16:colId xmlns:a16="http://schemas.microsoft.com/office/drawing/2014/main" val="334100188"/>
                    </a:ext>
                  </a:extLst>
                </a:gridCol>
                <a:gridCol w="3393506">
                  <a:extLst>
                    <a:ext uri="{9D8B030D-6E8A-4147-A177-3AD203B41FA5}">
                      <a16:colId xmlns:a16="http://schemas.microsoft.com/office/drawing/2014/main" val="1954017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Principles of Live 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Live Coding Discussion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Live Coding Practice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580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TPACK and Live Coding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Grading Student Work in a Live Coding Setting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378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9309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BC420-4A1B-CE84-C674-DB8F5DCBB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0FFB16-227E-B2D1-13EB-0E96C4885113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9E98C0-7256-221C-01DB-3B45D95C374E}"/>
              </a:ext>
            </a:extLst>
          </p:cNvPr>
          <p:cNvSpPr txBox="1"/>
          <p:nvPr/>
        </p:nvSpPr>
        <p:spPr>
          <a:xfrm>
            <a:off x="274320" y="91440"/>
            <a:ext cx="116128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Acknowledgements</a:t>
            </a:r>
            <a:br>
              <a:rPr lang="en-US" sz="3000" b="1" dirty="0">
                <a:solidFill>
                  <a:schemeClr val="bg1"/>
                </a:solidFill>
              </a:rPr>
            </a:br>
            <a:endParaRPr sz="3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96A59-D4D4-FD0A-51DA-F75D24559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0727473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NSF 2518732, 2518733: Collaborative Research: Promoting Computational Literacy in Biochemistry and Molecular Biology Education</a:t>
            </a:r>
          </a:p>
          <a:p>
            <a:endParaRPr lang="en-US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A7E8E06A-9BD2-BF66-37DF-620FCC672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13278" y="2673512"/>
            <a:ext cx="3189791" cy="1510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186;p16">
            <a:extLst>
              <a:ext uri="{FF2B5EF4-FFF2-40B4-BE49-F238E27FC236}">
                <a16:creationId xmlns:a16="http://schemas.microsoft.com/office/drawing/2014/main" id="{7DFBFCF5-2AAE-0ACD-3CE0-90FDEF92872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74466" y="4565642"/>
            <a:ext cx="1727588" cy="1799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87;p16" descr="Jmu Seal Logo">
            <a:extLst>
              <a:ext uri="{FF2B5EF4-FFF2-40B4-BE49-F238E27FC236}">
                <a16:creationId xmlns:a16="http://schemas.microsoft.com/office/drawing/2014/main" id="{777ABC79-C613-59FE-4AB7-B766D54B9329}"/>
              </a:ext>
            </a:extLst>
          </p:cNvPr>
          <p:cNvPicPr preferRelativeResize="0"/>
          <p:nvPr/>
        </p:nvPicPr>
        <p:blipFill rotWithShape="1">
          <a:blip r:embed="rId5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66" r="21958"/>
          <a:stretch/>
        </p:blipFill>
        <p:spPr>
          <a:xfrm>
            <a:off x="9308174" y="4565643"/>
            <a:ext cx="1800651" cy="17993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7" name="Google Shape;188;p16" descr="RIT Seal">
            <a:extLst>
              <a:ext uri="{FF2B5EF4-FFF2-40B4-BE49-F238E27FC236}">
                <a16:creationId xmlns:a16="http://schemas.microsoft.com/office/drawing/2014/main" id="{ABF1CB56-6484-ADFB-5C60-F2C477BAE11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87814" y="4565642"/>
            <a:ext cx="1680532" cy="1799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89;p16">
            <a:extLst>
              <a:ext uri="{FF2B5EF4-FFF2-40B4-BE49-F238E27FC236}">
                <a16:creationId xmlns:a16="http://schemas.microsoft.com/office/drawing/2014/main" id="{F73CABBB-1606-39E2-CD10-75BB2B2B284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64671" y="2782966"/>
            <a:ext cx="1632722" cy="17005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9" name="Google Shape;190;p16">
            <a:extLst>
              <a:ext uri="{FF2B5EF4-FFF2-40B4-BE49-F238E27FC236}">
                <a16:creationId xmlns:a16="http://schemas.microsoft.com/office/drawing/2014/main" id="{04110E47-BB68-D219-0D79-2B73E37BDD64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81032" y="4610749"/>
            <a:ext cx="1800662" cy="1795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2" name="Picture 6" descr="Rutgers University Logo PNG Vector (PDF) Free Download">
            <a:extLst>
              <a:ext uri="{FF2B5EF4-FFF2-40B4-BE49-F238E27FC236}">
                <a16:creationId xmlns:a16="http://schemas.microsoft.com/office/drawing/2014/main" id="{A22EB4C0-B28B-80DE-D8EA-7F44E5696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6761" y="4610749"/>
            <a:ext cx="1828151" cy="1828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1467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1764</TotalTime>
  <Words>463</Words>
  <Application>Microsoft Macintosh PowerPoint</Application>
  <PresentationFormat>Custom</PresentationFormat>
  <Paragraphs>134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Apple Chancery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Walter Novak</cp:lastModifiedBy>
  <cp:revision>23</cp:revision>
  <dcterms:created xsi:type="dcterms:W3CDTF">2013-01-27T09:14:16Z</dcterms:created>
  <dcterms:modified xsi:type="dcterms:W3CDTF">2026-05-19T20:02:04Z</dcterms:modified>
  <cp:category/>
</cp:coreProperties>
</file>